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score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Cloud concepts</c:v>
                </c:pt>
                <c:pt idx="1">
                  <c:v>Architecture &amp; services</c:v>
                </c:pt>
                <c:pt idx="2">
                  <c:v>Management &amp; governance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38</c:v>
                </c:pt>
                <c:pt idx="2">
                  <c:v>34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Indicative score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Sheet1!$A$2:$A$6</c:f>
              <c:strCache>
                <c:ptCount val="5"/>
                <c:pt idx="0">
                  <c:v>Runtime</c:v>
                </c:pt>
                <c:pt idx="1">
                  <c:v>SKU</c:v>
                </c:pt>
                <c:pt idx="2">
                  <c:v>Storage</c:v>
                </c:pt>
                <c:pt idx="3">
                  <c:v>Egress</c:v>
                </c:pt>
                <c:pt idx="4">
                  <c:v>Idle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70</c:v>
                </c:pt>
                <c:pt idx="2">
                  <c:v>45</c:v>
                </c:pt>
                <c:pt idx="3">
                  <c:v>35</c:v>
                </c:pt>
                <c:pt idx="4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36449-Microsoft-Azure-Fundamentals-AZ-90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earn.microsoft.com/en-us/credentials/certifications/azure-fundamentals/practice/assessment?assessment-type=practice&amp;assessmentId=23" TargetMode="Externa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zure-global-fabric-image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83427"/>
            <a:ext cx="6812280" cy="38339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30352" y="530352"/>
            <a:ext cx="5074920" cy="5349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77824"/>
            <a:ext cx="4206240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· COURSE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4297680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B26"/>
                </a:solidFill>
                <a:latin typeface="Arial"/>
              </a:rPr>
              <a:t>Microsoft Azure Fundamentals (AZ-900)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329184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82112"/>
            <a:ext cx="4160520" cy="56692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8A73"/>
                </a:solidFill>
                <a:latin typeface="Arial"/>
              </a:rPr>
              <a:t>Cloud concepts · architecture ·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069080"/>
            <a:ext cx="4023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Dr. Alfred Ang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81728"/>
            <a:ext cx="4206240" cy="6400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Tertiary Infotech Academy Pte Ltd
UEN: 201200696W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LEARNER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· TRAQOM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653796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645920"/>
            <a:ext cx="6537960" cy="5029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810512"/>
            <a:ext cx="109728" cy="109728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5568" y="1810512"/>
            <a:ext cx="109728" cy="109728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35024" y="1810512"/>
            <a:ext cx="109728" cy="109728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5920" y="1764792"/>
            <a:ext cx="507492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1783080"/>
            <a:ext cx="4773168" cy="2011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87168"/>
            <a:ext cx="571500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Attendance is a compliance record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31546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136392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Open the LMS attendance tile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3776472"/>
            <a:ext cx="365760" cy="36576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758184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Scan the TRAQOM QR code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4398264"/>
            <a:ext cx="365760" cy="36576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79976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Complete every required checkpoint</a:t>
            </a:r>
          </a:p>
        </p:txBody>
      </p:sp>
      <p:sp>
        <p:nvSpPr>
          <p:cNvPr id="23" name="Oval 22"/>
          <p:cNvSpPr/>
          <p:nvPr/>
        </p:nvSpPr>
        <p:spPr>
          <a:xfrm>
            <a:off x="1005840" y="5020056"/>
            <a:ext cx="365760" cy="36576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01768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Confirm attendance status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664208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26679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1783080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Front checkpoint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103120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Complete at the start of class.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79792" y="2798064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6679" y="3035808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916936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Assessment checkpoint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236976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Complete before assessment begins.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79792" y="3931920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26679" y="4169663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050791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75% minimum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Attendance requirement for assessment/funding.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79792" y="5065776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26679" y="5303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84648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5504688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Trainer confirms recorded status.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General Trainer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3154680" cy="43159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91640" y="2148840"/>
            <a:ext cx="1051560" cy="105156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56432"/>
            <a:ext cx="256032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Trainer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68496"/>
            <a:ext cx="2560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Title / Designation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1737360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33087" y="1737360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901952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0448" y="1874519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________________________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33087" y="2587752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33087" y="2587752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752344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724912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33087" y="3438144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133087" y="3438144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602736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Expertise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3575303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________________________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087" y="4288536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133087" y="4288536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4453127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448" y="4425696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________________________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5138928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33087" y="5138928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C77600"/>
          </a:solidFill>
          <a:ln w="1016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0" y="5303520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Contact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0448" y="5276088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161B26"/>
                </a:solidFill>
                <a:latin typeface="Arial"/>
              </a:rPr>
              <a:t>________________________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3154680" cy="431596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91640" y="2148840"/>
            <a:ext cx="1051560" cy="105156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56432"/>
            <a:ext cx="256032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68496"/>
            <a:ext cx="256032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Founder &amp; Principal Trainer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1737360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33087" y="1737360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901952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0448" y="1874519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Cloud, AI and automation educator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33087" y="2587752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33087" y="2587752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752344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724912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Doctorate · ACTA/ACLP-aligned training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33087" y="3438144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133087" y="3438144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602736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Expertise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3575303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Azure · cloud architecture · governance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33087" y="4288536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133087" y="4288536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4453127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Experience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448" y="4425696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Technical course design and delivery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5138928"/>
            <a:ext cx="7242048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133087" y="5138928"/>
            <a:ext cx="1508760" cy="694944"/>
          </a:xfrm>
          <a:prstGeom prst="roundRect">
            <a:avLst>
              <a:gd name="adj" fmla="val 8000"/>
            </a:avLst>
          </a:prstGeom>
          <a:solidFill>
            <a:srgbClr val="C77600"/>
          </a:solidFill>
          <a:ln w="10160">
            <a:solidFill>
              <a:srgbClr val="C77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80" y="5303520"/>
            <a:ext cx="1170432" cy="29260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</a:rPr>
              <a:t>Contact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70448" y="5276088"/>
            <a:ext cx="516636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600"/>
                </a:solidFill>
                <a:latin typeface="Arial"/>
              </a:rPr>
              <a:t>ADMIN · 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 for a safe Azure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Confirm the intended training subscription before every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Credentials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Use unique strong passwords; never share keys or paste secrets into screenshots.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SECRET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Use small SKUs and run cleanup immediately after verification.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Capture only resource state required by the lab and assessment.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PROOF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77600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If identity, subscription or cost scope is unclear, stop before creating resources.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ADMIN ·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 and course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 · Assess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Compare solution boundaries, specifications, performance and security signals.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 ·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Translate required controls into a staged Azure implementation plan.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 ·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Use cost, health, activity and monitoring evidence to resolve issues.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Exam alignment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Cover all AZ-900 skills measured from 20 July 2026.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AZ-900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The labs create evidence for the WSQ outcomes; the concept slides explain the mechanisms behind that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600"/>
                </a:solidFill>
                <a:latin typeface="Arial"/>
              </a:rPr>
              <a:t>EDITABLE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AZ-900 domain weighting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68680" y="1700784"/>
          <a:ext cx="672084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82127" y="1700784"/>
            <a:ext cx="3429000" cy="41605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965960"/>
            <a:ext cx="288036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2487168"/>
            <a:ext cx="2852928" cy="25146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Midpoint teaching allocation from the official exam ranges: 25–30%, 35–40%, and 30–35%. Use the weighting to prioritise revision—not to skip any objective.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5212080"/>
            <a:ext cx="274320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Midpoints of official exam-weight ranges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ADMIN · LESSON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Two-day lesson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Day 1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Admin, cloud models, pricing, serverless, regions and control plane.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FOUNDATION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Day 1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Compute, application hosting, containers and networking labs.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Day 2 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Storage, data, identity, RBAC and governance mechanisms.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Day 2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Cost, monitoring, cleanup, WA and PP assessment.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ASSESS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Detailed click paths and commands stay in the Learner Guide; the deck carries mechanisms, decisions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ADMIN · ASSESSMENT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9 open-ended SAQs covering K1–K9; 1 hour; open 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3 lab-aligned tasks covering A1–A5; 1 hour; open book.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Complete the supplied documents and upload through the LMS.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LMS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Competence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All criteria require sufficient, valid and authentic evidence.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 / NYC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3A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Question papers are learner-facing. Answer keys remain trainer-only and are never linked publicly.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ADMIN ·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Complete assessment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digital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Assess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Sit WA, then PP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Upload completed documents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Summary Record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3A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Use the LMS for attendance, assessment download and answer submission.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653796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645920"/>
            <a:ext cx="6537960" cy="5029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810512"/>
            <a:ext cx="109728" cy="109728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5568" y="1810512"/>
            <a:ext cx="109728" cy="109728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35024" y="1810512"/>
            <a:ext cx="109728" cy="109728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5920" y="1764792"/>
            <a:ext cx="507492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1783080"/>
            <a:ext cx="4773168" cy="2011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87168"/>
            <a:ext cx="571500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31546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136392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Sign in with your learner account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3776472"/>
            <a:ext cx="365760" cy="36576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758184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Open this course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4398264"/>
            <a:ext cx="365760" cy="36576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79976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Download PPT/PDF and Learner Guide</a:t>
            </a:r>
          </a:p>
        </p:txBody>
      </p:sp>
      <p:sp>
        <p:nvSpPr>
          <p:cNvPr id="23" name="Oval 22"/>
          <p:cNvSpPr/>
          <p:nvPr/>
        </p:nvSpPr>
        <p:spPr>
          <a:xfrm>
            <a:off x="1005840" y="5020056"/>
            <a:ext cx="365760" cy="36576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01768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Use the assessment tile only when instructed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664208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26679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1783080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Trainer slides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103120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PPTX is the editable trainer artifact.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79792" y="2798064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6679" y="3035808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916936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Learner slides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236976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PDF copy appears with the Learner Guide.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79792" y="3931920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26679" y="4169663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050791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Learner Guide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Detailed steps, commands and checks.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79792" y="5065776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26679" y="5303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84648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5504688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Upload completed candidate papers here.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LEARNER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653796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645920"/>
            <a:ext cx="6537960" cy="5029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810512"/>
            <a:ext cx="109728" cy="109728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5568" y="1810512"/>
            <a:ext cx="109728" cy="109728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35024" y="1810512"/>
            <a:ext cx="109728" cy="109728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5920" y="1764792"/>
            <a:ext cx="507492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1783080"/>
            <a:ext cx="4773168" cy="2011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  <a:hlinkClick r:id="rId2"/>
              </a:rPr>
              <a:t>github.com/tertiarycourses/TGS-2023036449-AZ-900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87168"/>
            <a:ext cx="571500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Two ways to get the public labs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31546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136392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Clone the repository with Git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3776472"/>
            <a:ext cx="365760" cy="36576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758184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Or use Code → Download ZIP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4398264"/>
            <a:ext cx="365760" cy="36576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79976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Open labs/README.md</a:t>
            </a:r>
          </a:p>
        </p:txBody>
      </p:sp>
      <p:sp>
        <p:nvSpPr>
          <p:cNvPr id="23" name="Oval 22"/>
          <p:cNvSpPr/>
          <p:nvPr/>
        </p:nvSpPr>
        <p:spPr>
          <a:xfrm>
            <a:off x="1005840" y="5020056"/>
            <a:ext cx="365760" cy="36576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01768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Follow the numbered labs in order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664208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26679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1783080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Public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103120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Labs and learner courseware only.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79792" y="2798064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6679" y="3035808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916936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236976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Assessments and answer keys are excluded.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79792" y="3931920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26679" y="4169663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050791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Browser-first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Portal and Cloud Shell need no local install.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79792" y="5065776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26679" y="5303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84648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5504688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Every billable lab ends with a cleanup gate.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493776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1 · 25–30%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10835640" cy="37947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28016" cy="37947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112264"/>
            <a:ext cx="8046720" cy="10515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Describe Cloud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383280"/>
            <a:ext cx="8046720" cy="5486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Cloud models · economics · benefits · service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965960"/>
            <a:ext cx="1554480" cy="1463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D9E5F2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297680"/>
            <a:ext cx="786384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Labs 1–3 · Blueprint effective 20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Shared responsibility changes by service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Customer always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Data, identities, accounts and access decisions remain customer responsibilities.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IaaS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Customer manages OS, runtime and application; provider manages facilities and hardware.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IaaS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PaaS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Provider manages OS and runtime; customer manages application configuration and data.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PaaS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SaaS 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Provider runs the application; customer governs users, data and permitted use.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SaaS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Ask who can change the control and who must supply the evidence—not merely who hosts the server.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Public, private and hybrid cloud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Ownership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Best-fit signal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Primary trade-off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Provider-operated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Elastic demand; rapid service access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Less physical control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Private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Single organisation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Regulated or specialised infrastructure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Higher capital and skills burden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Hybrid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Connected public + private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Data residency or staged migration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Integration and governance complexity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A cloud model is an ownership and boundary decision; it is not a synonym for a product name.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Consumption economics: translate usage into spend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Services measure units such as vCPU-hours, GB-months, transactions and outbound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SKU, region, tier, reservation and commitment determine the price per unit.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RATE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Quantity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Scale, runtime, retention and traffic turn technical behaviour into billable usage.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USAGE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Budgets, tags, autoscale and cleanup change future cost but do not erase consumed usage.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Estimated cost = metered quantity × applicable rate; validate both sides of the equation.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600"/>
                </a:solidFill>
                <a:latin typeface="Arial"/>
              </a:rPr>
              <a:t>EDITABLE NATIVE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Illustrative cloud cost levers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68680" y="1700784"/>
          <a:ext cx="672084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82127" y="1700784"/>
            <a:ext cx="3429000" cy="41605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1965960"/>
            <a:ext cx="288036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600"/>
                </a:solidFill>
                <a:latin typeface="Arial"/>
              </a:rPr>
              <a:t>WHAT THE DATA SHOWS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2487168"/>
            <a:ext cx="2852928" cy="25146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Indicative teaching scores: runtime, SKU choice and idle capacity usually dominate early lab spend. Actual charges depend on service, region and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5212080"/>
            <a:ext cx="274320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Midpoints of official exam-weight ranges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Serverless request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HTTP, queue, timer or data change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Platform selects function and binding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Start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Warm instance or cold start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Execute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Code runs within configured limits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Platform adds or removes instances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Serverless removes server management, not architecture, security, performance or cost decisions.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Availability and scalability solve different problems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High availability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Redundant instances and zones reduce interruption when a component fails.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FAILURE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Vertical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Increase CPU, memory or IOPS of one instance; simple but bounded.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UP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Horizontal scale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Add instances and distribute load; resilient but requires stateless design.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Elasticity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Scale automatically with demand and return capacity when demand falls.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AUTO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Availability targets failure; scalability targets workload. A design normally needs both.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Reliability and predictability need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 service commitment expressed as availability over a defined period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COMMIT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Composite SLA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For serial dependencies, multiply decimal availability values to estimate the path SLA.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CALC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Capacity tests and monitoring reveal whether latency and throughput stay within targets.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MEASURE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Budgets and forecasts reduce surprise; they do not cap usage unless automation acts.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FORECAST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Predictability comes from explicit targets, measured telemetry and a response plan—not from the cloud label.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Manageability: one control plane, many interfaces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Portal, CLI, PowerShell, SDK or template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Microsoft Entra token identifies caller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Resource Manager validates and routes request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Service resource provider executes change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Deployment, activity log and resource state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Different tools converge on Azure Resource Manager; choose the interface that gives repeatability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IaaS, PaaS and SaaS decision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You configure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Provider operates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Use when</a:t>
                      </a:r>
                    </a:p>
                  </a:txBody>
                  <a:tcPr anchor="ctr">
                    <a:solidFill>
                      <a:srgbClr val="1F6FEB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IaaS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OS, runtime, app, data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Facilities, hardware, virtualisation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Legacy or OS-level control is required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PaaS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App, data, service configuration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OS, runtime, scaling primitives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Ship applications without server operations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SaaS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Users, data, tenant settings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Complete application stack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Adopt a finished business capability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Choose the highest abstraction that still exposes the controls your workload genuinely needs.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Service-model selection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Workload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State constraints and required controls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Identify OS or runtime dependency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security and compliance artefacts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Operate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Estimate patching, scaling and support effort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SaaS, PaaS or IaaS and record trade-off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Start from required control and evidence; do not begin with a favourite service.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Lab 1 · Tour the Azure Portal and Create Your First Resource Group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2510027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57349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Navigate Azure Portal and global search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7267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79291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9291" y="1874519"/>
            <a:ext cx="2510027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6833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5595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5595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rg-az900-labs in Southeast Asia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16751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08775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8775" y="1874519"/>
            <a:ext cx="2510027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16317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Metadata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79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Apply course=az900 tag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46235" y="3127248"/>
            <a:ext cx="164593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38259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38259" y="1874519"/>
            <a:ext cx="2510027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45801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4563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4563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Overview, Tags and Activity log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Resource group exists in Southeast Asia with course=az900 and no unexpected resources. Full click-by-click procedure: Learner Guide and labs/lab-01-*.md.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1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Resource group exists in Southeast Asia with course=az900 and no unexpected resources.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Wrong subscription or duplicate group name: confirm directory/subscription before continuing.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· Get Started with Azure Cloud Shell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browser-hosted Bash/PowerShell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active subscription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resource group with Azure CLI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Parity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Compare CLI and PowerShell output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Persist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Save a small file in Cloud Drive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CLI and PowerShell return the same subscription and rg-az900-labs state. Full click-by-click procedure: Learner Guide and labs/lab-02-*.md.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1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2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CLI and PowerShell return the same subscription and rg-az900-labs state.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No prompt or wrong context: restart Cloud Shell and use az account set with the intended subscription.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3 · Explore Regions, Region Pairs and Availability Zones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2510027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57349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Azure regions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7267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79291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9291" y="1874519"/>
            <a:ext cx="2510027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6833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5595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5595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Locate Southeast Asia and pair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16751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08775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8775" y="1874519"/>
            <a:ext cx="2510027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16317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Zones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79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zonal SKU availability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46235" y="3127248"/>
            <a:ext cx="164593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38259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38259" y="1874519"/>
            <a:ext cx="2510027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45801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4563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4563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Separate HA from regional DR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Learner can name region, zone and region-pair boundaries and justify the lab region. Full click-by-click procedure: Learner Guide and labs/lab-03-*.md.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1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3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Learner can name region, zone and region-pair boundaries and justify the lab region.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Assuming every service supports zones: verify capability for the selected service and region.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DOMAIN 1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Domain 1 · Decision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Responsibility changes as abstraction increases.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Usage and rate create spend.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Resilience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HA, scale and recovery answer different failures.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Targets, metrics and tests make promises verifiable.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Explain the mechanism, show the evidence, then state the trade-off.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493776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3FD2"/>
                </a:solidFill>
                <a:latin typeface="Arial"/>
              </a:rPr>
              <a:t>DOMAIN 2 · 35–40%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10835640" cy="37947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28016" cy="379476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112264"/>
            <a:ext cx="8046720" cy="10515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Describe Azure Architecture and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383280"/>
            <a:ext cx="8046720" cy="5486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Global infrastructure · compute · networking · storage · identity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965960"/>
            <a:ext cx="1554480" cy="1463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D9E5F2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297680"/>
            <a:ext cx="786384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D3FD2"/>
                </a:solidFill>
                <a:latin typeface="Arial"/>
              </a:rPr>
              <a:t>Labs 4–11 · Blueprint effective 20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VISUAL SYSTEM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global fabric: region and zone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pic>
        <p:nvPicPr>
          <p:cNvPr id="9" name="Picture 8" descr="azure-global-fabric-image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47538"/>
            <a:ext cx="6629400" cy="37310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16368" y="1645920"/>
            <a:ext cx="3840480" cy="941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16368" y="1645920"/>
            <a:ext cx="82296" cy="941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44968" y="181051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755648"/>
            <a:ext cx="27889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Region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278892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B6372"/>
                </a:solidFill>
                <a:latin typeface="Arial"/>
              </a:rPr>
              <a:t>A geographic market containing one or more datacenters connected by low-latency networking.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2770632"/>
            <a:ext cx="3840480" cy="941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2770632"/>
            <a:ext cx="82296" cy="9418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44968" y="2935224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880360"/>
            <a:ext cx="27889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Availability zone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191256"/>
            <a:ext cx="278892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B6372"/>
                </a:solidFill>
                <a:latin typeface="Arial"/>
              </a:rPr>
              <a:t>A physically separate datacenter location with independent power, cooling and networking.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8" y="3895344"/>
            <a:ext cx="3840480" cy="941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16368" y="3895344"/>
            <a:ext cx="82296" cy="9418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44968" y="4059935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005072"/>
            <a:ext cx="27889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Region pair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315968"/>
            <a:ext cx="278892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B6372"/>
                </a:solidFill>
                <a:latin typeface="Arial"/>
              </a:rPr>
              <a:t>A platform planning relationship for recovery sequencing; not automatic application failover.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5166360"/>
            <a:ext cx="384048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54112" y="5294376"/>
            <a:ext cx="3364992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61B26"/>
                </a:solidFill>
                <a:latin typeface="Arial"/>
              </a:rPr>
              <a:t>Use zones for datacenter-level resilience and a multi-region design for regional disaster recovery.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Regions, zones and region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Boundary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Protects against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Design action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Region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Geographic/data residency constraint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Select supported service and latency location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Resource location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Availability zone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Datacenter failure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Place redundant zonal or zone-redundant instances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Zone field / architecture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Region pair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Regional event planning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Design replication and tested failover separately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Recovery plan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A region pair is not a substitute for configuring replication, backups or failover.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resource hierarchy and inheritance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Tenant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Identity and directory boundary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Management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Portfolio governance scope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Subscription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Billing and quota boundary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Resource 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Lifecycle and deployment boundary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Service instance and configuration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RBAC and Policy can inherit downward; resource groups cannot be nested.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Resource Manager request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Portal, CLI, PowerShell, SDK or template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Microsoft Entra authenticates the principal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Checks RBAC, policy and request schema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Microsoft.Compute, Storage and Network providers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Resource plus deployment/activity evidence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The control plane changes resource configuration; the data plane moves or reads workload data.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Compute selection: VM, containers or functions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Runtime control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Scale unit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Best-fit signal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Virtual machine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Full guest OS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VM / scale-set instance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OS dependency or lift-and-shift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Container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Image and process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Container group / replica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Portable packaged service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Function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Function code + bindings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Invocation / instance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Event-driven, short-lived work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Choose by required control, state model, event pattern and operations burden—not by novelty.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Virtual machine resource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Size defines vCPU, memory, temporary disk and throughput ceilings.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SKU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Marketplace or custom image provides OS and starting configuration.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Managed OS/data disks persist independently of temporary disk.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NIC, subnet, NSG and optional public IP define reachability.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 VM is a graph of resources; deleting only the VM can leave disks, NICs and public IPs billable.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VM availability choices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Failure scope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Placement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Availability set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Rack/update domain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Logical distribution in one datacenter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Legacy regional VM pattern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Availability zones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Datacenter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Explicit zones in a region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Higher regional resilience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VM Scale Sets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Instance failure + demand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Uniform/flexible fleet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Autoscaling identical workloads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Azure Virtual Desktop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User session workload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Pooled/personal desktops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Managed virtual desktop delivery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Availability is an application property: add load distribution, health probes and data resilience.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Application hosting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Package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Binary, container image or source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Need OS access or only app settings?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Traffic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Steady, bursty, event-driven or scheduled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Externalise session and persistent data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Host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VM, App Service, container or function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Match the hosting abstraction to runtime control and workload behaviour.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Container runtime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Immutable layers define filesystem and startup command.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Registry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Stores tagged image versions and access policy.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PULL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Runs the image with CPU, memory, network and environment settings.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RUN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Logs, restart state and health evidence explain runtime outcome.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 container is not a tiny VM: it is an isolated process that shares the host kernel.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Virtual network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Address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CIDR range defines private address capacity and overlap risk.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CIDR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Segments workloads and becomes a scope for routes, NSGs and service integration.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SEGMENT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Connects VNets over Azure backbone without transitive routing by default.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CONNECT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Resolves names; private zones support private endpoint and internal service discovery.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RESOLVE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Plan non-overlapping CIDR space before deployment; renumbering connected networks is expensive.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Public and private endpoints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11887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Address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Traffic path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Public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Internet-routable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Public network to service edge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Firewall, auth, TLS, allow lists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Private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Private IP in VNet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Private link to service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Subnet, DNS, NSG plus service policy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A private endpoint changes the network path; it does not replace identity, authorisation or encryption.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Hybrid connectivity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Typical use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Trade-off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VPN Gateway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Encrypted tunnel over internet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Fast hybrid connection and backup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Variable internet latency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ExpressRoute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Private provider circuit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Predictable enterprise connectivity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Lead time and circuit cost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VNet peering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Azure backbone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Connect Azure VNets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Not transitive by default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Azure DNS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Authoritative name service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Public/private name resolution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Needs correct zone linking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Connectivity design must include routing, DNS, security and failure behaviour—not just a tunnel.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Storage service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Service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Data model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Protocol/API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Use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Blob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Objects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HTTP/REST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Documents, media, backups, data lakes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Files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Managed file share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SMB/NFS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Lift-and-shift shared files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Queue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Messages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REST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Loose coupling and background work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Table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NoSQL key/attribute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REST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Massive simple structured datasets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Select storage by access pattern, protocol, consistency and lifecycle—not by file extension.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Blob access tiers and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Higher storage price, lower access cost; frequent reads and writes.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FREQUENT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Lower storage price with minimum retention and higher access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INFREQUENT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Lower cost for seldom-accessed online data with longer minimum retention.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RARE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Archive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Offline tier requiring rehydration before read; lowest storage cost.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OFFLINE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Lifecycle rules can move blobs by age; retention, retrieval time and access charges still apply.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Storage redundancy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Copies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Failure scope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Read secondary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LRS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3 in one datacenter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Disk/rack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ZRS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Across 3 zones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Datacenter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GRS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Primary LRS + paired region LRS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Region after failover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RA-GRS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GRS plus secondary read endpoint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Region + read continuity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Redundancy protects service data copies; it does not replace backup, versioning or deletion protection.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Move and migrate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2510027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57349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Discover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Inventory data, dependencies and change rate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7267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79291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9291" y="1874519"/>
            <a:ext cx="2510027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6833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5595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Choose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5595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AzCopy, Storage Explorer, File Sync, Data Box or Azure Migrate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16751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08775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08775" y="1874519"/>
            <a:ext cx="2510027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116317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79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Transfer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79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Online copy, synchronisation or offline appliance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746235" y="3127248"/>
            <a:ext cx="164593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38259" y="1874519"/>
            <a:ext cx="2510027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38259" y="1874519"/>
            <a:ext cx="2510027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45801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4563" y="3035808"/>
            <a:ext cx="2217420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Validate + cut over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4563" y="3456432"/>
            <a:ext cx="2217420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Verify hash, permissions and application; freeze writes and retain rollback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CONTROL 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A migration is complete only when data, permissions, application behaviour and rollback evidence are verified.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Microsoft Entra directory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Users, groups, service principals and managed identities are security principals.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Authentication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Passwords, MFA, passwordless and federation prove identity.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PROVE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Conditional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Evaluates signal and policy before token issuance.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Authorisation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Azure RBAC and application roles decide permitted actions.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ALLOW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Authentication answers who you are; authorisation answers what you may do at a scope.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Authentication method trade-offs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Method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User experience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Phishing resistance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6D3FD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Password only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Familiar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Password policy and risk monitoring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MFA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Second proof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Medium; method-dependent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Conditional Access requirement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Passwordless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Key/biometric/device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High with FIDO2/passkeys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Registration and device assurance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SSO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One sign-in across apps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Depends on primary method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Federation/token lifetime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SSO reduces repeated sign-in; it is not itself a strong authentication method.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External identity and Conditional Access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Invite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Guest or external user enters tenant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Signal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User, device, location, risk and application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Conditional Access evaluates assignments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Grant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Block, require MFA, device or terms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Token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Claims drive downstream access checks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External collaboration needs lifecycle, access review and sign-in policy—not just an invitation.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RBAC assignment is a three-part tuple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User, group, service principal or managed identity receives access.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 role definition lists allowed and excluded management/data actions.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WHAT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Management group, subscription, resource group or resource bounds access.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Role assignments and Check access show direct and inherited permissions.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VERIFY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Apply least privilege at the narrowest practical scope and prefer groups over repeated user assignments.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Zero Trust and defense in depth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Verify explicitly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Use identity, device, risk and resource signals for each access decision.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IDENTITY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Least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Minimise permissions, duration and reachable scope.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Assume breach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Segment networks, monitor activity and test recovery.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Layers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Physical, identity, perimeter, network, compute, application and data controls overlap.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DEPTH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No single control is the boundary; layered controls limit blast radius when one control fails.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Microsoft Defender for Cloud control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Assess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Secure score and recommendations identify posture gaps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Plans enable workload protection capabilities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Signals identify suspicious activity and threats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Investigate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Alerts and context support triage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Improve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Remediate configuration and measure posture change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D3FD2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Defender for Cloud combines posture management and workload protection; scope and plan settings matter.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4 · Create a Windows Virtual Machine in the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Specify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image, size and credentials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NIC, subnet, NSG and public IP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ARM creates the resource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Connect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RDP and install IIS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Control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Deallocate or remove related resources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VM overview is healthy and the IIS page is reachable only through the intended rule. Full click-by-click procedure: Learner Guide and labs/lab-04-*.md.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4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VM overview is healthy and the IIS page is reachable only through the intended rule.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Timeout: check power state, public IP, NSG inbound rule and guest firewall.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· Create a Linux VM with Azure CLI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Variables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Set RG, region and VM name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az vm create with SSH keys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Expose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only required web port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Configure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SSH and install NGINX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Clean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Delete VM graph and confirm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az vm get-instance-view reports running before the web test; cleanup leaves no attached VM resources. Full click-by-click procedure: Learner Guide and labs/lab-05-*.md.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5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az vm get-instance-view reports running before the web test; cleanup leaves no attached VM resources.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Image/size unavailable: query valid images and SKUs in Southeast Asia before retrying.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· Create a Web App with Azure App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runtime and App Service plan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globally unique web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Publish a small web package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scale up and scale out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endpoint and deployment state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HTTPS endpoint serves the deployed page and the deployment log shows success. Full click-by-click procedure: Learner Guide and labs/lab-06-*.md.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6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HTTPS endpoint serves the deployed page and the deployment log shows success.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Default page persists: check deployment target, startup/runtime setting and deployment log.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7 · Deploy a Container with Azure Container Instances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Image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public container image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CPU, memory, port and environment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container group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state, logs and FQDN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Remove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Delete the container group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Container state is Running, logs are readable and the FQDN returns expected content. Full click-by-click procedure: Learner Guide and labs/lab-07-*.md.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7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Container state is Running, logs are readable and the FQDN returns expected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ImagePull or restart loop: inspect events, registry access, command and container logs.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8 · Create a Virtual Network and Test Private Connectivity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Address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Plan non-overlapping VNet CIDR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Segment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web and data subnets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Place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Deploy VMs and NICs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Route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private IP path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Protect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effective NSG rules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Web VM reaches data VM over private IP while the data VM has no public IP. Full click-by-click procedure: Learner Guide and labs/lab-08-*.md.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8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Web VM reaches data VM over private IP while the data VM has no public IP.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Private test fails: check NIC IP, subnet route, NSG rules and guest firewall.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9 · Create a Storage Account and Work with Blob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Account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globally unique StorageV2 account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Container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private blob container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Object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Upload and tier a blob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Delegate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Generate time-bound SAS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Compare anonymous and SAS access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Anonymous access fails, SAS access succeeds within its scope and the blob tier reads back correctly. Full click-by-click procedure: Learner Guide and labs/lab-09-*.md.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9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Anonymous access fails, SAS access succeeds within its scope and the blob tier reads back correctly.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SAS fails: check expiry, permissions, resource type, clock and copied query string.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· Create an Azure SQL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logical server identity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low-cost compute and sample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Set firewall/connectivity rule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Query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Run sample query in browser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Remove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Delete database and logical server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Query returns rows from the sample database and firewall scope matches the intended client. Full click-by-click procedure: Learner Guide and labs/lab-10-*.md.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10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Query returns rows from the sample database and firewall scope matches the intended client.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Login/query blocked: check server name, admin identity, firewall rule and database selection.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11 · Explore Microsoft Entra ID Users and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Tenant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safe training directory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test identity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security group and membership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Authenticate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Sign in as the user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Observe no Azure authorisation yet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Test user can authenticate but cannot manage subscription resources without RBAC assignment. Full click-by-click procedure: Learner Guide and labs/lab-11-*.md.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2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11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Test user can authenticate but cannot manage subscription resources without RBAC assignment.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Using a corporate tenant: stop and switch to an authorised training tenant before creating identities.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3FD2"/>
                </a:solidFill>
                <a:latin typeface="Arial"/>
              </a:rPr>
              <a:t>DOMAIN 2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Domain 2 · Decision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Hierarchy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Tenant to resource sets scope and inheritance.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Select compute, network and storage by contract.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CHOOSE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Authentication plus RBAC controls access.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ACCESS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Security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Zero Trust and layered controls limit blast radius.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PROTECT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D3FD2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Explain the mechanism, show the evidence, then state the trade-off.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4937760" cy="320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8A73"/>
                </a:solidFill>
                <a:latin typeface="Arial"/>
              </a:rPr>
              <a:t>DOMAIN 3 · 30–35%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10835640" cy="37947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28016" cy="379476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112264"/>
            <a:ext cx="8046720" cy="10515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Describe Azure Management and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383280"/>
            <a:ext cx="8046720" cy="5486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Cost · governance · deployment ·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965960"/>
            <a:ext cx="1554480" cy="146304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0" b="1">
                <a:solidFill>
                  <a:srgbClr val="D9E5F2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297680"/>
            <a:ext cx="7863840" cy="36576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8A73"/>
                </a:solidFill>
                <a:latin typeface="Arial"/>
              </a:rPr>
              <a:t>Labs 12–16 · Blueprint effective 20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cost factors become design inputs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and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Compute size, storage tier and feature plan establish the rate card.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Region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Service availability, price and data residency vary by geography.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LOCATION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Runtime, transactions, retained capacity and network egress create quantity.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METER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Commitment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Reservations and savings plans trade flexibility for a lower effective rate.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TERM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Cost is architecture feedback: surface the meter and owner before a workload reaches production.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Pricing Calculator to budget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region, service, SKU and expected usage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architectural alternatives and commitments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Export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Share estimate assumptions and date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Apply tags and budget ownership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Compare actual cost and variance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An estimate is an assumption set; keep it with the design so variance can be explained.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VISUAL SYSTEM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Governance and operations control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pic>
        <p:nvPicPr>
          <p:cNvPr id="9" name="Picture 8" descr="azure-governance-operations-imageg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47538"/>
            <a:ext cx="6629400" cy="37310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16368" y="1645920"/>
            <a:ext cx="3840480" cy="941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16368" y="1645920"/>
            <a:ext cx="82296" cy="941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44968" y="181051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755648"/>
            <a:ext cx="27889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Prevent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278892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B6372"/>
                </a:solidFill>
                <a:latin typeface="Arial"/>
              </a:rPr>
              <a:t>Identity, RBAC and Policy constrain unsafe change.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2770632"/>
            <a:ext cx="3840480" cy="941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2770632"/>
            <a:ext cx="82296" cy="941832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44968" y="2935224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880360"/>
            <a:ext cx="27889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191256"/>
            <a:ext cx="278892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B6372"/>
                </a:solidFill>
                <a:latin typeface="Arial"/>
              </a:rPr>
              <a:t>Cost and monitoring show operational effect.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16368" y="3895344"/>
            <a:ext cx="3840480" cy="9418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16368" y="3895344"/>
            <a:ext cx="82296" cy="94183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44968" y="4059935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005072"/>
            <a:ext cx="278892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61B26"/>
                </a:solidFill>
                <a:latin typeface="Arial"/>
              </a:rPr>
              <a:t>Respond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315968"/>
            <a:ext cx="278892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B6372"/>
                </a:solidFill>
                <a:latin typeface="Arial"/>
              </a:rPr>
              <a:t>Alerts, diagnosis and remediation restore intended state.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5166360"/>
            <a:ext cx="384048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54112" y="5294376"/>
            <a:ext cx="3364992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61B26"/>
                </a:solidFill>
                <a:latin typeface="Arial"/>
              </a:rPr>
              <a:t>Governance sets intended state; operations compares observed state and closes the gap.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Tags are metadata, not security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Identify accountable team or service owner.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Environment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Separate prod, test and development reporting.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Cost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Allocate spend to a business unit or project.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CHARGE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Select resources for policy, scripts and lifecycle tasks.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Tags support organisation and automation; they do not grant access and are not inherited automatically by every resource.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Purview, Policy and 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8915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Control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Primary question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Mechanism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Microsoft Purview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What data exists and how is it governed?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Catalog, classification, lineage, governance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Data map and classifications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Azure Policy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Is resource configuration allowed?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Audit, deny, modify, deployIfNotExists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Compliance state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Resource lock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Can authorised users change/delete this scope?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CanNotDelete or ReadOnly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Lock and failed operation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These controls complement one another: data governance, configuration governance and change protection.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Policy evaluation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Definition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Rule and effect describe intended configuration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Scope and parameters activate the policy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Request-time and periodic scans compare state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Effect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Audit, deny, modify or deploy remediation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Compliance state and remediation task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A policy definition does nothing until assigned at a scope with correct parameters and identity.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management interfaces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Interface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Strength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Repeatability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Portal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Discovery and visual inspection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Manual unless exported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Activity/deployment logs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Cloud Shell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Browser-hosted CLI/PowerShell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Commands and scripts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Terminal output + logs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Azure CLI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Cross-platform automation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Command output + exit status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Azure PowerShell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Object pipeline and admin scripting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Objects + errors + logs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Use the portal to learn the resource model, then capture repeatable intent in commands or templates.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Arc extends the control plane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Project non-Azure Windows/Linux servers into Azure resource inventory.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HYBRID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Kubernetes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Attach clusters for inventory, policy and GitOps-enabled operations.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CLUSTER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 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Run selected Azure data capabilities on enabled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Governance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Apply tags, Policy and monitoring across distributed resources.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Arc does not move the workload into Azure; it extends Azure management and governance to the workload.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Infrastructure as code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Declarative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Describe desired resources and properties instead of procedural clicks.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STATE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Parameters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Separate environment-specific values from reusable structure.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INPUT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Dependencies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Resource graph orders deployment and captures relationships.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GRAPH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Idempotence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Reapply the same template to converge on intended state.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REPEAT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IaC improves repeatability only when versioning, review, validation and deployment evidence are part of the workflow.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ARM template deployment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Author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JSON template or Bicep expresses resources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Syntax, types, references and policy preflight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What-if shows proposed changes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ARM orchestrates resource providers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Outputs, resource state and deployment operations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Use what-if and deployment operations to understand change before and after execution.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Advisor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Improve continuity and resilience configuration.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Reduce exposure and improve posture.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PROTECT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Remove bottlenecks and tune service configuration.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SPEED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Right-size, shut down or commit where evidence supports 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SAVE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Advisor provides recommendations; validate workload context and risk before applying a change.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Service Health separates three views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Azure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Public global view of broad Azure service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GLOBAL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Health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Personalised incidents, maintenance and advisories for your subscriptions.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YOU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Resource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Health of an individual resource and platform event history.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RESOURCE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Alert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Route relevant events through action groups to accountable responders.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Start at the narrowest evidence: resource, subscription service event, then global status.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Azure Monitor telemetry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Platform, guest, application and activity signals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Collect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Metrics, logs and traces enter Monitor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Metric store or Log Analytics workspace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Analyse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Charts, workbooks, KQL and Application Insights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Alert rule triggers action group or automation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An alert is only useful when its signal, threshold, owner and response action are testable.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Metrics, logs and traces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691640"/>
          <a:ext cx="108356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2880360"/>
                <a:gridCol w="2880360"/>
                <a:gridCol w="310896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Structure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Best for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Query</a:t>
                      </a:r>
                    </a:p>
                  </a:txBody>
                  <a:tcPr anchor="ctr">
                    <a:solidFill>
                      <a:srgbClr val="108A7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Numeric time series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Fast thresholding and trends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Metric explorer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Log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Timestamped records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Investigation and correlation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KQL in Log Analytics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Trace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Distributed request spans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Application dependency latency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Application Insights</a:t>
                      </a:r>
                    </a:p>
                  </a:txBody>
                  <a:tcPr anchor="ctr" marL="82296" marR="82296">
                    <a:solidFill>
                      <a:srgbClr val="F5F8F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1B26"/>
                          </a:solidFill>
                          <a:latin typeface="Arial"/>
                        </a:rPr>
                        <a:t>Activity log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Control-plane events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Who changed what and when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61B26"/>
                          </a:solidFill>
                          <a:latin typeface="Arial"/>
                        </a:rPr>
                        <a:t>Activity Log / export</a:t>
                      </a:r>
                    </a:p>
                  </a:txBody>
                  <a:tcPr anchor="ctr" marL="82296" marR="8229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413248"/>
            <a:ext cx="10835640" cy="71323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559552"/>
            <a:ext cx="1028700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1">
                <a:solidFill>
                  <a:srgbClr val="161B26"/>
                </a:solidFill>
                <a:latin typeface="Arial"/>
              </a:rPr>
              <a:t>Choose a signal that can prove the failure mode; collect everything is not an observability strategy.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TECHNICAL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KQL query anatomy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Select a record set such as AzureActivity or AppRequests.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where narrows time, resource, status or operation.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Shape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project, extend and summarize transform records.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SELECT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Present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order by and render make the result interpretable.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OUTPUT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A useful query states the operational question, the time window and the evidence needed for a decision.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MECHANISM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Alert-to-response control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Metric, log, activity or service event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Rule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Scope, condition, threshold and frequency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Action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Email, SMS, webhook, ITSM or automation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Triage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impact, owner and evidence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Improve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Resolve, document and tune the rule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Test alert routing before an incident and tune noisy rules using actual response outcomes.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· Manage Access with Azure RBAC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Principal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user or group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Compare Reader, Contributor and Owner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Assign at resource-group level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Attempt permitted and blocked actions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Remove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Delete assignment and read 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Reader can view rg-az900-labs but cannot create or delete resources; assignment is removed after the test. Full click-by-click procedure: Learner Guide and labs/lab-12-*.md.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3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12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Reader can view rg-az900-labs but cannot create or delete resources; assignment is removed after the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Unexpected access: inspect inherited assignments and use Check access for the exact principal.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· Apply Resource Tags and Resource 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Classify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Apply owner/environment/cost tags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Query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Filter and read tag metadata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Add CanNotDelete lock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Prove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Capture blocked delete evidence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Release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Remove lock for cleanup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Tags read back at intended scopes and the lock blocks deletion until explicitly removed. Full click-by-click procedure: Learner Guide and labs/lab-13-*.md.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3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13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Tags read back at intended scopes and the lock blocks deletion until explicitly removed.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Cleanup blocked: enumerate locks at resource, group and subscription scopes.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· Enforce Standards with Azure Policy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Definition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Select Allowed locations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Assignment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Scope to rg-az900-labs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Evaluate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Attempt non-compliant deployment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Read compliance result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Remove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Delete assignment after lab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A disallowed-region deployment is denied and the assignment/compliance state is visible. Full click-by-click procedure: Learner Guide and labs/lab-14-*.md.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3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14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disallowed-region deployment is denied and the assignment/compliance state is visible.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No denial: confirm assignment scope, parameters, enforcement mode and propagation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· Estimate and Control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Price VM and storage assumptions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Compare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TCO and commitment options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Allocate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Use tags and Cost analysis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Guard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budget threshold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Explain variance and owner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Estimate assumptions are saved and a budget exists with an accountable notification route. Full click-by-click procedure: Learner Guide and labs/lab-15-*.md.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3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15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Estimate assumptions are saved and a budget exists with an accountable notification route.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No cost data: remember reporting latency and verify subscription, date range and permissions.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Lab 16 · Monitor Your Environment and Complete Cleanup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Recommend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Review Advisor categories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Health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Inspect Service and Resource Health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Measure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Chart a metric or inspect Activity log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Alert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Create/test action route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Delete lab resources and verify inventory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08A73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Deliverable: Monitoring evidence is captured and final resource inventory contains no unintended billable lab resources. Full click-by-click procedure: Learner Guide and labs/lab-16-*.md.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DOMAIN 3 · LAB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Lab 16 · Verification and diagnosis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6675120" cy="4069080"/>
          </a:xfrm>
          <a:prstGeom prst="roundRect">
            <a:avLst>
              <a:gd name="adj" fmla="val 8000"/>
            </a:avLst>
          </a:prstGeom>
          <a:solidFill>
            <a:srgbClr val="E8F7EE"/>
          </a:solidFill>
          <a:ln w="10160">
            <a:solidFill>
              <a:srgbClr val="B9E2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2148840"/>
            <a:ext cx="804672" cy="804672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2139696"/>
            <a:ext cx="452628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845B"/>
                </a:solidFill>
                <a:latin typeface="Arial"/>
              </a:rPr>
              <a:t>ACCEPTANCE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889504"/>
            <a:ext cx="5907024" cy="123444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Monitoring evidence is captured and final resource inventory contains no unintended billable lab resources.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599432"/>
            <a:ext cx="5870448" cy="6766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Capture the named resource state, command output or service result. Evidence must match the intended subscription and scope.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1737360"/>
            <a:ext cx="3611880" cy="18470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0160">
            <a:solidFill>
              <a:srgbClr val="F0C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1984248"/>
            <a:ext cx="297180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LIKELY 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468880"/>
            <a:ext cx="2926080" cy="8046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161B26"/>
                </a:solidFill>
                <a:latin typeface="Arial"/>
              </a:rPr>
              <a:t>Residual resources remain: query by resource group/tag and inspect locks, dependencies and hidden child resources.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3840480"/>
            <a:ext cx="3611880" cy="196596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1" y="4087368"/>
            <a:ext cx="29260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DIAGNOSTIC ORDER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28431" y="4526280"/>
            <a:ext cx="2907792" cy="9418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1">
                <a:solidFill>
                  <a:srgbClr val="161B26"/>
                </a:solidFill>
                <a:latin typeface="Arial"/>
              </a:rPr>
              <a:t>1 · Identity and subscription
2 · Resource and configuration state
3 · Network path and service logs
4 · Cleanup and cost exposure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DOMAIN 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Domain 3 · Decision recap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Govern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Policy, locks and metadata express intended state.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INTENT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Deploy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IaC makes change reviewable and repeatable.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Metrics, logs and health provide operational evidence.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SIGNAL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Improve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Cost and alert feedback close the control loop.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08A73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Explain the mechanism, show the evidence, then state the trade-off.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845B"/>
                </a:solidFill>
                <a:latin typeface="Arial"/>
              </a:rPr>
              <a:t>COURSE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you can now explain and verify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 decisions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Choose models and service types by responsibility and control.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Azure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Trace regions, resource hierarchy and service contracts.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ARCH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Governance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Connect identity, RBAC, Policy, cost and monitoring evidence.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Hands-on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Create, verify, diagnose and clean up sixteen Azure lab scenarios.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PROOF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845B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Use the official July 2026 skills outline as the final revision checklist.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Practice and Exam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653796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645920"/>
            <a:ext cx="6537960" cy="5029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810512"/>
            <a:ext cx="109728" cy="109728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5568" y="1810512"/>
            <a:ext cx="109728" cy="109728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35024" y="1810512"/>
            <a:ext cx="109728" cy="109728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5920" y="1764792"/>
            <a:ext cx="507492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1783080"/>
            <a:ext cx="4773168" cy="2011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  <a:hlinkClick r:id="rId2"/>
              </a:rPr>
              <a:t>learn.microsoft.com/.../az-900/practice-assessment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87168"/>
            <a:ext cx="571500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Official Microsoft Learn AZ-900 practice assessment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31546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136392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Open the official practice assessment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3776472"/>
            <a:ext cx="365760" cy="36576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758184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Attempt a timed first pass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4398264"/>
            <a:ext cx="365760" cy="36576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79976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Review explanations by domain</a:t>
            </a:r>
          </a:p>
        </p:txBody>
      </p:sp>
      <p:sp>
        <p:nvSpPr>
          <p:cNvPr id="23" name="Oval 22"/>
          <p:cNvSpPr/>
          <p:nvPr/>
        </p:nvSpPr>
        <p:spPr>
          <a:xfrm>
            <a:off x="1005840" y="5020056"/>
            <a:ext cx="365760" cy="36576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01768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Return to weak mechanisms and labs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664208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26679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1783080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Current check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103120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Tertiary Exams did not list an AZ-900 bundle at release.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79792" y="2798064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6679" y="3035808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916936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Official source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236976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Use Microsoft Learn for the matching practice assessment.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79792" y="3931920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26679" y="4169663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050791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No dumps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Practise concepts and reasoning, not memorised items.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79792" y="5065776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26679" y="5303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84648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Retake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5504688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Track domain improvement before exam day.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CLOSING ·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19072"/>
            <a:ext cx="82296" cy="2395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7824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81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1 hour · open-ended K1–K9 · open book.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4:00–5:00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01568" y="1719072"/>
            <a:ext cx="82296" cy="2395728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621024" y="1901952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1 hour · 3 lab-aligned tasks · open book.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6D3FD2"/>
          </a:solidFill>
          <a:ln w="10160">
            <a:solidFill>
              <a:srgbClr val="6D3F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58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5:00–6:00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719072"/>
            <a:ext cx="82296" cy="2395728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1901952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Submit required screenshots, outputs and explanations.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08A73"/>
          </a:solidFill>
          <a:ln w="10160">
            <a:solidFill>
              <a:srgbClr val="108A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VALID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719072"/>
            <a:ext cx="2487168" cy="239572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887968" y="1719072"/>
            <a:ext cx="82296" cy="2395728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07424" y="1901952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1847088"/>
            <a:ext cx="1527048" cy="50292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Privacy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487168"/>
            <a:ext cx="1993392" cy="11704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161B26"/>
                </a:solidFill>
                <a:latin typeface="Arial"/>
              </a:rPr>
              <a:t>Do not share candidate papers or answer keys outside authorised channels.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685032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16845B"/>
          </a:solidFill>
          <a:ln w="10160">
            <a:solidFill>
              <a:srgbClr val="16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2288" y="3707891"/>
            <a:ext cx="1335024" cy="219456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FFFFFF"/>
                </a:solidFill>
                <a:latin typeface="Arial"/>
              </a:rPr>
              <a:t>PRIVATE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334256"/>
            <a:ext cx="10835640" cy="1353312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498848"/>
            <a:ext cx="20116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3A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873752"/>
            <a:ext cx="10287000" cy="5943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61B26"/>
                </a:solidFill>
                <a:latin typeface="Arial"/>
              </a:rPr>
              <a:t>Take assessment digital attendance first, then submit completed candidate papers on the LMS.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3A"/>
                </a:solidFill>
                <a:latin typeface="Arial"/>
              </a:rPr>
              <a:t>CLOSING · ASSESSMENT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 · final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874519"/>
            <a:ext cx="1964131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84401" y="221284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1371" y="3127248"/>
            <a:ext cx="164592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33395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33395" y="1874519"/>
            <a:ext cx="1964131" cy="91440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67988" y="2212848"/>
            <a:ext cx="694944" cy="69494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9699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Confirm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9699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Digital record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24958" y="3127248"/>
            <a:ext cx="164592" cy="0"/>
          </a:xfrm>
          <a:prstGeom prst="line">
            <a:avLst/>
          </a:prstGeom>
          <a:ln w="25400">
            <a:solidFill>
              <a:srgbClr val="6D3FD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16982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982" y="1874519"/>
            <a:ext cx="1964131" cy="91440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51576" y="2212848"/>
            <a:ext cx="694944" cy="69494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3286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WA +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3286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Complete both papers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8545" y="3127248"/>
            <a:ext cx="164592" cy="0"/>
          </a:xfrm>
          <a:prstGeom prst="line">
            <a:avLst/>
          </a:prstGeom>
          <a:ln w="25400">
            <a:solidFill>
              <a:srgbClr val="108A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00569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00569" y="1874519"/>
            <a:ext cx="1964131" cy="91440"/>
          </a:xfrm>
          <a:prstGeom prst="rect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35163" y="2212848"/>
            <a:ext cx="694944" cy="69494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6873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6873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Upload on LMS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92132" y="3127248"/>
            <a:ext cx="164592" cy="0"/>
          </a:xfrm>
          <a:prstGeom prst="line">
            <a:avLst/>
          </a:prstGeom>
          <a:ln w="25400">
            <a:solidFill>
              <a:srgbClr val="1684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484156" y="1874519"/>
            <a:ext cx="1964131" cy="2542032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4156" y="1874519"/>
            <a:ext cx="1964131" cy="91440"/>
          </a:xfrm>
          <a:prstGeom prst="rect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18750" y="2212848"/>
            <a:ext cx="694944" cy="694944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30460" y="3035808"/>
            <a:ext cx="1671523" cy="43891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161B26"/>
                </a:solidFill>
                <a:latin typeface="Arial"/>
              </a:rPr>
              <a:t>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0460" y="3456432"/>
            <a:ext cx="1671523" cy="82296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Summary record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4663440"/>
            <a:ext cx="10661904" cy="960120"/>
          </a:xfrm>
          <a:prstGeom prst="roundRect">
            <a:avLst>
              <a:gd name="adj" fmla="val 8000"/>
            </a:avLst>
          </a:prstGeom>
          <a:solidFill>
            <a:srgbClr val="E8F1FF"/>
          </a:solidFill>
          <a:ln w="10160">
            <a:solidFill>
              <a:srgbClr val="E8F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828032"/>
            <a:ext cx="1920240" cy="219456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3A"/>
                </a:solidFill>
                <a:latin typeface="Arial"/>
              </a:rPr>
              <a:t>CONTROL RULE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120640"/>
            <a:ext cx="10104120" cy="347472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40" b="1">
                <a:solidFill>
                  <a:srgbClr val="161B26"/>
                </a:solidFill>
                <a:latin typeface="Arial"/>
              </a:rPr>
              <a:t>Do not leave before the assessor confirms submission and sign-off.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92608"/>
            <a:ext cx="10698480" cy="25603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8A73"/>
                </a:solidFill>
                <a:latin typeface="Arial"/>
              </a:rPr>
              <a:t>LEARNER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744200" cy="6583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· Mandatory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9144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45920"/>
            <a:ext cx="653796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645920"/>
            <a:ext cx="6537960" cy="50292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1810512"/>
            <a:ext cx="109728" cy="109728"/>
          </a:xfrm>
          <a:prstGeom prst="ellipse">
            <a:avLst/>
          </a:prstGeom>
          <a:solidFill>
            <a:srgbClr val="C24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5568" y="1810512"/>
            <a:ext cx="109728" cy="109728"/>
          </a:xfrm>
          <a:prstGeom prst="ellipse">
            <a:avLst/>
          </a:prstGeom>
          <a:solidFill>
            <a:srgbClr val="C77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35024" y="1810512"/>
            <a:ext cx="109728" cy="109728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5920" y="1764792"/>
            <a:ext cx="5074920" cy="256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1783080"/>
            <a:ext cx="4773168" cy="20116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87168"/>
            <a:ext cx="5715000" cy="43891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B26"/>
                </a:solidFill>
                <a:latin typeface="Arial"/>
              </a:rPr>
              <a:t>Complete the assessment checkpoint</a:t>
            </a:r>
          </a:p>
        </p:txBody>
      </p:sp>
      <p:sp>
        <p:nvSpPr>
          <p:cNvPr id="17" name="Oval 16"/>
          <p:cNvSpPr/>
          <p:nvPr/>
        </p:nvSpPr>
        <p:spPr>
          <a:xfrm>
            <a:off x="1005840" y="3154680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136392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Open the LMS attendance tile</a:t>
            </a:r>
          </a:p>
        </p:txBody>
      </p:sp>
      <p:sp>
        <p:nvSpPr>
          <p:cNvPr id="19" name="Oval 18"/>
          <p:cNvSpPr/>
          <p:nvPr/>
        </p:nvSpPr>
        <p:spPr>
          <a:xfrm>
            <a:off x="1005840" y="3776472"/>
            <a:ext cx="365760" cy="36576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758184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Scan the current TRAQOM QR code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4398264"/>
            <a:ext cx="365760" cy="36576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379976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Submit the attendance response</a:t>
            </a:r>
          </a:p>
        </p:txBody>
      </p:sp>
      <p:sp>
        <p:nvSpPr>
          <p:cNvPr id="23" name="Oval 22"/>
          <p:cNvSpPr/>
          <p:nvPr/>
        </p:nvSpPr>
        <p:spPr>
          <a:xfrm>
            <a:off x="1005840" y="5020056"/>
            <a:ext cx="365760" cy="365760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01768"/>
            <a:ext cx="5074920" cy="384048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Show confirmation if requested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664208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26679" y="190195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1783080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2" y="2103120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TRAQOM is SSG digital attendance.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79792" y="2798064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26679" y="3035808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2916936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Timing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3236976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Complete before assessment starts.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79792" y="3931920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726679" y="4169663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4050791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370831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Trainer checks the captured status.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79792" y="5065776"/>
            <a:ext cx="3867912" cy="932688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26679" y="5303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5184648"/>
            <a:ext cx="2697480" cy="27432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1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5504688"/>
            <a:ext cx="2697480" cy="347472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61B26"/>
                </a:solidFill>
                <a:latin typeface="Arial"/>
              </a:rPr>
              <a:t>Raise access issues immediately.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1097280"/>
            <a:ext cx="10835640" cy="4480560"/>
          </a:xfrm>
          <a:prstGeom prst="roundRect">
            <a:avLst>
              <a:gd name="adj" fmla="val 8000"/>
            </a:avLst>
          </a:prstGeom>
          <a:solidFill>
            <a:srgbClr val="F5F8FC"/>
          </a:solidFill>
          <a:ln w="10160">
            <a:solidFill>
              <a:srgbClr val="F5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72768"/>
            <a:ext cx="9875520" cy="41148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914400"/>
          </a:xfrm>
          <a:prstGeom prst="rect">
            <a:avLst/>
          </a:prstGeom>
          <a:noFill/>
        </p:spPr>
        <p:txBody>
          <a:bodyPr wrap="none" lIns="27432" rIns="27432" tIns="27432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Microsoft Azure Fundamentals (AZ-900)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337560"/>
            <a:ext cx="9692640" cy="47548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08A73"/>
                </a:solidFill>
                <a:latin typeface="Arial"/>
              </a:rPr>
              <a:t>Explain the mechanism · verify the evidence · control the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24528"/>
            <a:ext cx="9692640" cy="384048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enquiry@tertiaryinfotech.com · +65 6100 0613 ·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19088"/>
            <a:ext cx="475488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Microsoft Azure Fundamentals (AZ-900) · TGS-2023036449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19088"/>
            <a:ext cx="347472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7080" y="6419088"/>
            <a:ext cx="548640" cy="228600"/>
          </a:xfrm>
          <a:prstGeom prst="rect">
            <a:avLst/>
          </a:prstGeom>
          <a:noFill/>
        </p:spPr>
        <p:txBody>
          <a:bodyPr wrap="none" lIns="27432" rIns="27432" tIns="27432" bIns="27432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Azure Fundamentals (AZ-900) v2</dc:title>
  <dc:subject>WSQ Microsoft Azure Fundamentals course slides</dc:subject>
  <dc:creator>Tertiary Infotech Academy Pte Ltd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